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Context: This is a market snapshot, not a single universal ranking. Some model names and benchmark rows change quickly in 2026. Treat this as a buyer/use-case routing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D1B2E">
              <a:alpha val="92000"/>
            </a:srgbClr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BA4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AI models snapshot | As of 22 May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7FB"/>
                </a:solidFill>
              </a:rPr>
              <a:t>Best AI Models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ED6"/>
                </a:solidFill>
              </a:rPr>
              <a:t>What to use in May 2026: coding, general reasoning, audio, and visual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43D6D6">
              <a:alpha val="94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04288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8111F"/>
                </a:solidFill>
              </a:rPr>
              <a:t>closed + open-weight</a:t>
            </a:r>
            <a:endParaRPr lang="en-US" sz="660" dirty="0"/>
          </a:p>
        </p:txBody>
      </p:sp>
      <p:sp>
        <p:nvSpPr>
          <p:cNvPr id="8" name="Shape 6"/>
          <p:cNvSpPr/>
          <p:nvPr/>
        </p:nvSpPr>
        <p:spPr>
          <a:xfrm>
            <a:off x="2651760" y="2240280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F6B44B">
              <a:alpha val="94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230428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8111F"/>
                </a:solidFill>
              </a:rPr>
              <a:t>best by task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4251960" y="2240280"/>
            <a:ext cx="2148840" cy="274320"/>
          </a:xfrm>
          <a:prstGeom prst="roundRect">
            <a:avLst>
              <a:gd name="adj" fmla="val 23333"/>
            </a:avLst>
          </a:prstGeom>
          <a:solidFill>
            <a:srgbClr val="7EE787">
              <a:alpha val="94000"/>
            </a:srgbClr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2304288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8111F"/>
                </a:solidFill>
              </a:rPr>
              <a:t>snapshot date: 22 May 2026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>
            <a:off x="7772400" y="96012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132944"/>
          </a:solidFill>
          <a:ln w="12700">
            <a:solidFill>
              <a:srgbClr val="2C45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417320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43D6D6">
              <a:alpha val="90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3619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</a:rPr>
              <a:t>General intelligence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83880" y="2258568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F6B44B">
              <a:alpha val="9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37744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</a:rPr>
              <a:t>Coding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3880" y="3099816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7EE787">
              <a:alpha val="90000"/>
            </a:srgbClr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321868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</a:rPr>
              <a:t>Speech + music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83880" y="3941064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7AA2FF">
              <a:alpha val="90000"/>
            </a:srgbClr>
          </a:solidFill>
          <a:ln w="12700">
            <a:solidFill>
              <a:srgbClr val="7AA2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05993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11F"/>
                </a:solidFill>
              </a:rPr>
              <a:t>Image + video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May 2026 Landscape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ED6"/>
                </a:solidFill>
              </a:rPr>
              <a:t>No single winner: the best model depends on task, cost, deployment, and modality.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54864" cy="1508760"/>
          </a:xfrm>
          <a:prstGeom prst="rect">
            <a:avLst/>
          </a:prstGeom>
          <a:solidFill>
            <a:srgbClr val="43D6D6"/>
          </a:solidFill>
          <a:ln w="12700">
            <a:solidFill>
              <a:srgbClr val="43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8191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Closed frontier leads raw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1920240"/>
            <a:ext cx="31729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Claude Opus 4.7 / Mythos, GPT-5.5, and Gemini 3.1 Pro split the top categories: coding depth, agentic terminal use, and multimodal reasoning.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417320"/>
            <a:ext cx="54864" cy="1508760"/>
          </a:xfrm>
          <a:prstGeom prst="rect">
            <a:avLst/>
          </a:prstGeom>
          <a:solidFill>
            <a:srgbClr val="F6B44B"/>
          </a:solidFill>
          <a:ln w="12700">
            <a:solidFill>
              <a:srgbClr val="F6B4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58191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Open-weight gap is shrinking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4568" y="1920240"/>
            <a:ext cx="31729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Kimi K2.6, DeepSeek V4, Qwen 3.6, GLM-5.x, Llama 4, and Mistral Large 3 are increasingly viable for self-hosting and cost control.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17320"/>
            <a:ext cx="54864" cy="150876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58191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Multimodal becomes default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93608" y="1920240"/>
            <a:ext cx="317296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Top systems now mix text, code, image, audio, and video. The distinction is less “chatbot” vs “tool” and more “router over modalities.”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B"/>
                </a:solidFill>
              </a:rPr>
              <a:t>Decision rule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105156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050" dirty="0">
                <a:solidFill>
                  <a:srgbClr val="F3F7FB"/>
                </a:solidFill>
              </a:rPr>
              <a:t>Use frontier closed models for hardest reasoning, coding, and reliability-sensitive work.</a:t>
            </a:r>
            <a:endParaRPr lang="en-US" sz="1050" dirty="0"/>
          </a:p>
          <a:p>
            <a:r>
              <a:rPr lang="en-US" sz="1050" dirty="0">
                <a:solidFill>
                  <a:srgbClr val="F3F7FB"/>
                </a:solidFill>
              </a:rPr>
              <a:t>Use open-weight models when data control, self-hosting, latency, or unit economics matter.</a:t>
            </a:r>
            <a:endParaRPr lang="en-US" sz="1050" dirty="0"/>
          </a:p>
          <a:p>
            <a:r>
              <a:rPr lang="en-US" sz="1050" dirty="0">
                <a:solidFill>
                  <a:srgbClr val="F3F7FB"/>
                </a:solidFill>
              </a:rPr>
              <a:t>Use specialized audio / image / video systems instead of one general model when media quality is the product.</a:t>
            </a:r>
            <a:endParaRPr lang="en-US" sz="1050" dirty="0"/>
          </a:p>
          <a:p>
            <a:r>
              <a:rPr lang="en-US" sz="1050" dirty="0">
                <a:solidFill>
                  <a:srgbClr val="F3F7FB"/>
                </a:solidFill>
              </a:rPr>
              <a:t>Route across 2-4 models; avoid betting the whole stack on a single leaderboard winner.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06440" y="647395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90" dirty="0">
                <a:solidFill>
                  <a:srgbClr val="6F87A6"/>
                </a:solidFill>
              </a:rPr>
              <a:t>Sources: BenchLM, Artificial Analysis, FutureAGI, o-mega, model/provider announcements</a:t>
            </a:r>
            <a:endParaRPr lang="en-US" sz="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General &amp; Multi-Domain Models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ED6"/>
                </a:solidFill>
              </a:rPr>
              <a:t>The strongest general models are now differentiated by workflow, not just raw benchmark averages.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54864" cy="3611880"/>
          </a:xfrm>
          <a:prstGeom prst="rect">
            <a:avLst/>
          </a:prstGeom>
          <a:solidFill>
            <a:srgbClr val="43D6D6"/>
          </a:solidFill>
          <a:ln w="12700">
            <a:solidFill>
              <a:srgbClr val="43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36192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Claude Opus 4.7 / Mythos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1874520"/>
            <a:ext cx="2350008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Best for complex reasoning, long-context analysis, and hard software engineering. Mythos leads several provisional rankings but may be limited-access.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371600"/>
            <a:ext cx="54864" cy="3611880"/>
          </a:xfrm>
          <a:prstGeom prst="rect">
            <a:avLst/>
          </a:prstGeom>
          <a:solidFill>
            <a:srgbClr val="F6B44B"/>
          </a:solidFill>
          <a:ln w="12700">
            <a:solidFill>
              <a:srgbClr val="F6B4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536192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GPT-5.5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21608" y="1874520"/>
            <a:ext cx="2350008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Best for agentic terminal workflows, computer use, broad ecosystem access, and productized assistants. Strong default where OpenAI tooling matters.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446520" y="137160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371600"/>
            <a:ext cx="54864" cy="361188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1536192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Gemini 3.1 Pro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47688" y="1874520"/>
            <a:ext cx="2350008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Best value among US frontier models for multimodal, science/research, long context, and Google Cloud/RAG-heavy workflows.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372600" y="1371600"/>
            <a:ext cx="2240280" cy="3611880"/>
          </a:xfrm>
          <a:prstGeom prst="roundRect">
            <a:avLst>
              <a:gd name="adj" fmla="val 3265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72600" y="1371600"/>
            <a:ext cx="54864" cy="3611880"/>
          </a:xfrm>
          <a:prstGeom prst="rect">
            <a:avLst/>
          </a:prstGeom>
          <a:solidFill>
            <a:srgbClr val="7AA2FF"/>
          </a:solidFill>
          <a:ln w="12700">
            <a:solidFill>
              <a:srgbClr val="7AA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1536192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Open-weight tier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73768" y="1874520"/>
            <a:ext cx="1892808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Kimi K2.6, DeepSeek V4-Pro, Qwen 3.6, Llama 4, Mistral Large 3: pick by license, hosting budget, context, and language coverage.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85800" y="55046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Best practical stack: Claude for hard coding + Gemini for large multimodal context + GPT for terminal/product agents + one open-weight fallback.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647395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90" dirty="0">
                <a:solidFill>
                  <a:srgbClr val="6F87A6"/>
                </a:solidFill>
              </a:rPr>
              <a:t>Sources: BenchLM May 2026, FutureAGI May 2026, o-mega May 2026</a:t>
            </a:r>
            <a:endParaRPr lang="en-US" sz="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Coding Models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ED6"/>
                </a:solidFill>
              </a:rPr>
              <a:t>Coding is split between real-world repo repair, terminal agents, and self-hostable code models.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2880360" cy="2834640"/>
          </a:xfrm>
          <a:prstGeom prst="roundRect">
            <a:avLst>
              <a:gd name="adj" fmla="val 2581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80160"/>
            <a:ext cx="54864" cy="2834640"/>
          </a:xfrm>
          <a:prstGeom prst="rect">
            <a:avLst/>
          </a:prstGeom>
          <a:solidFill>
            <a:srgbClr val="43D6D6"/>
          </a:solidFill>
          <a:ln w="12700">
            <a:solidFill>
              <a:srgbClr val="43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4475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Best raw coding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1783080"/>
            <a:ext cx="253288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Claude Mythos Preview / Claude Opus 4.7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SWE-bench Verified and SWE-bench Pro leadership; strong multi-file issue repair and planning.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657600" y="1280160"/>
            <a:ext cx="2880360" cy="2834640"/>
          </a:xfrm>
          <a:prstGeom prst="roundRect">
            <a:avLst>
              <a:gd name="adj" fmla="val 2581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280160"/>
            <a:ext cx="54864" cy="2834640"/>
          </a:xfrm>
          <a:prstGeom prst="rect">
            <a:avLst/>
          </a:prstGeom>
          <a:solidFill>
            <a:srgbClr val="F6B44B"/>
          </a:solidFill>
          <a:ln w="12700">
            <a:solidFill>
              <a:srgbClr val="F6B4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1444752"/>
            <a:ext cx="253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Best terminal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58768" y="1783080"/>
            <a:ext cx="253288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GPT-5.5 / Codex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Top choice when the task is shell-heavy, repo navigation, debugging loops, and autonomous tool use.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720840" y="128016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1280160"/>
            <a:ext cx="54864" cy="283464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1444752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Best value frontier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22008" y="1783080"/>
            <a:ext cx="198424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Gemini 3.1 Pro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Strong coding plus very large multimodal context at lower major-lab pricing.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235440" y="1280160"/>
            <a:ext cx="2377440" cy="2834640"/>
          </a:xfrm>
          <a:prstGeom prst="roundRect">
            <a:avLst>
              <a:gd name="adj" fmla="val 3077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280160"/>
            <a:ext cx="54864" cy="2834640"/>
          </a:xfrm>
          <a:prstGeom prst="rect">
            <a:avLst/>
          </a:prstGeom>
          <a:solidFill>
            <a:srgbClr val="7AA2FF"/>
          </a:solidFill>
          <a:ln w="12700">
            <a:solidFill>
              <a:srgbClr val="7AA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36608" y="144475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Best open-weight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436608" y="1783080"/>
            <a:ext cx="202996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Kimi K2.6 / DeepSeek V4-Pro / GLM-5.x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High coding scores with self-host or cheaper hosted routes.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58368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Coding picks by need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892040"/>
            <a:ext cx="103327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880" dirty="0">
                <a:solidFill>
                  <a:srgbClr val="F3F7FB"/>
                </a:solidFill>
              </a:rPr>
              <a:t>Enterprise copilot: Claude Opus 4.7 or GPT-5.5 depending on IDE/tooling fit.</a:t>
            </a:r>
            <a:endParaRPr lang="en-US" sz="880" dirty="0"/>
          </a:p>
          <a:p>
            <a:r>
              <a:rPr lang="en-US" sz="880" dirty="0">
                <a:solidFill>
                  <a:srgbClr val="F3F7FB"/>
                </a:solidFill>
              </a:rPr>
              <a:t>Autonomous dev agent: GPT-5.5 for terminal-heavy work; Claude for patch quality and review depth.</a:t>
            </a:r>
            <a:endParaRPr lang="en-US" sz="880" dirty="0"/>
          </a:p>
          <a:p>
            <a:r>
              <a:rPr lang="en-US" sz="880" dirty="0">
                <a:solidFill>
                  <a:srgbClr val="F3F7FB"/>
                </a:solidFill>
              </a:rPr>
              <a:t>Cost-sensitive code automation: Kimi K2.6 or DeepSeek V4-Pro behind a routing layer.</a:t>
            </a:r>
            <a:endParaRPr lang="en-US" sz="880" dirty="0"/>
          </a:p>
          <a:p>
            <a:r>
              <a:rPr lang="en-US" sz="880" dirty="0">
                <a:solidFill>
                  <a:srgbClr val="F3F7FB"/>
                </a:solidFill>
              </a:rPr>
              <a:t>Do not rely only on HumanEval-style scores; use SWE-bench Pro, SWE-Rebench, Terminal-Bench, and repo-specific evals.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806440" y="647395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90" dirty="0">
                <a:solidFill>
                  <a:srgbClr val="6F87A6"/>
                </a:solidFill>
              </a:rPr>
              <a:t>Sources: SWE-bench, BenchLM, LLM Stats, BuildFastWithAI, FutureAGI</a:t>
            </a:r>
            <a:endParaRPr lang="en-US" sz="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Open-Weight / “Free To Use” Shortlist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ED6"/>
                </a:solidFill>
              </a:rPr>
              <a:t>Free weights are not free operations: GPU, hosting, maintenance, and licenses still matter.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132944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53896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Kimi K2.6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0" y="1453896"/>
            <a:ext cx="7132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ED6"/>
                </a:solidFill>
              </a:rPr>
              <a:t>Open-weight coding/value leader; strong agentic behavior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777240" y="2020824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102035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48840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DeepSeek V4-Pro / Flash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2148840"/>
            <a:ext cx="7132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ED6"/>
                </a:solidFill>
              </a:rPr>
              <a:t>Best cost-performance; Flash for very cheap throughput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777240" y="2715768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132944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4378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Qwen 3.6 / Qwen-VL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0" y="2843784"/>
            <a:ext cx="7132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ED6"/>
                </a:solidFill>
              </a:rPr>
              <a:t>Strong multilingual, coding, and open vision family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77240" y="3410712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102035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538728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Llama 4 Scout / Maverick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0" y="3538728"/>
            <a:ext cx="7132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ED6"/>
                </a:solidFill>
              </a:rPr>
              <a:t>Long-context open weights; good privacy/on-prem baseline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77240" y="4105656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132944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33672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Mistral Large 3 / Small 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0" y="4233672"/>
            <a:ext cx="7132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ED6"/>
                </a:solidFill>
              </a:rPr>
              <a:t>EU-friendly open-weight options, Apache-style deployment appeal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77240" y="4800600"/>
            <a:ext cx="10607040" cy="457200"/>
          </a:xfrm>
          <a:prstGeom prst="roundRect">
            <a:avLst>
              <a:gd name="adj" fmla="val 10000"/>
            </a:avLst>
          </a:prstGeom>
          <a:solidFill>
            <a:srgbClr val="102035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928616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F7FB"/>
                </a:solidFill>
              </a:rPr>
              <a:t>Gemma 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0" y="4928616"/>
            <a:ext cx="7132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ED6"/>
                </a:solidFill>
              </a:rPr>
              <a:t>Smaller Apache-style models for commercial-safe local apps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E787"/>
                </a:solidFill>
              </a:rPr>
              <a:t>Use open weights when you need data residency, predictable marginal cost, fine-tuning control, or offline/on-prem deployment.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6440" y="647395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90" dirty="0">
                <a:solidFill>
                  <a:srgbClr val="6F87A6"/>
                </a:solidFill>
              </a:rPr>
              <a:t>Sources: FutureAGI, BuildFastWithAI, provider/model cards</a:t>
            </a:r>
            <a:endParaRPr lang="en-US" sz="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Sound Models: Speech, TTS, Music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ED6"/>
                </a:solidFill>
              </a:rPr>
              <a:t>Audio is best treated as layers: STT, TTS, speech-to-speech, and music/song generation.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54864" cy="3429000"/>
          </a:xfrm>
          <a:prstGeom prst="rect">
            <a:avLst/>
          </a:prstGeom>
          <a:solidFill>
            <a:srgbClr val="43D6D6"/>
          </a:solidFill>
          <a:ln w="12700">
            <a:solidFill>
              <a:srgbClr val="43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904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Speech-to-text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1828800"/>
            <a:ext cx="2212848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Deepgram Nova-3: production streaming default.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AssemblyAI Universal-2: transcription plus intelligence.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Whisper Large V3: open-source self-host baseline.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Google Chirp: broad-language batch accuracy.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325880"/>
            <a:ext cx="54864" cy="3429000"/>
          </a:xfrm>
          <a:prstGeom prst="rect">
            <a:avLst/>
          </a:prstGeom>
          <a:solidFill>
            <a:srgbClr val="F6B44B"/>
          </a:solidFill>
          <a:ln w="12700">
            <a:solidFill>
              <a:srgbClr val="F6B4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4904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Text-to-speech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1828800"/>
            <a:ext cx="2212848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Inworld Realtime TTS 1.5 Max and Gemini 3.1 Flash TTS lead arena-style rankings.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ElevenLabs v3: expressive quality and cloning.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Fish Audio S2 Pro / Kokoro: open-weight picks.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325880"/>
            <a:ext cx="54864" cy="342900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4904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Native audio agents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81928" y="1828800"/>
            <a:ext cx="2212848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GPT-Realtime-2 / GPT realtime family: speech-in, reasoning, speech-out without a separate STT/TTS chain.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Gemini Live and Grok/Step audio compete on speech reasoning.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8823960" y="1325880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1325880"/>
            <a:ext cx="54864" cy="3429000"/>
          </a:xfrm>
          <a:prstGeom prst="rect">
            <a:avLst/>
          </a:prstGeom>
          <a:solidFill>
            <a:srgbClr val="7AA2FF"/>
          </a:solidFill>
          <a:ln w="12700">
            <a:solidFill>
              <a:srgbClr val="7AA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25128" y="1490472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Music + sound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25128" y="1828800"/>
            <a:ext cx="2167128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Commercial: Suno, Udio, MiniMax/Mureka-style systems for polished songs.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Open: SongGeneration 2 / LeVo 2 and UniAudio 2 for music, sound, and audio tasks.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822960" y="54406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7FB"/>
                </a:solidFill>
              </a:rPr>
              <a:t>For voice products, choose latency first; for creator products, choose expressiveness and controllability first.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06440" y="647395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90" dirty="0">
                <a:solidFill>
                  <a:srgbClr val="6F87A6"/>
                </a:solidFill>
              </a:rPr>
              <a:t>Sources: FutureAGI Voice AI, DeepLearning.AI, TTS Arena, SongGeneration 2, UniAudio 2</a:t>
            </a:r>
            <a:endParaRPr lang="en-US" sz="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Visual Generation Models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ED6"/>
                </a:solidFill>
              </a:rPr>
              <a:t>Image and video generation are specialized markets: use leaderboards, but test your own prompt style.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54864" cy="3291840"/>
          </a:xfrm>
          <a:prstGeom prst="rect">
            <a:avLst/>
          </a:prstGeom>
          <a:solidFill>
            <a:srgbClr val="43D6D6"/>
          </a:solidFill>
          <a:ln w="12700">
            <a:solidFill>
              <a:srgbClr val="43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39903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Image generation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1737360"/>
            <a:ext cx="2990088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Top commercial families to evaluate: GPT-image / DALL-E line, Midjourney v7, Imagen 4, Ideogram, FLUX, and Stable Diffusion derivatives.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Best choice depends on realism, typography, editing, and brand consistency.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234440"/>
            <a:ext cx="54864" cy="3291840"/>
          </a:xfrm>
          <a:prstGeom prst="rect">
            <a:avLst/>
          </a:prstGeom>
          <a:solidFill>
            <a:srgbClr val="F6B44B"/>
          </a:solidFill>
          <a:ln w="12700">
            <a:solidFill>
              <a:srgbClr val="F6B4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39903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B"/>
                </a:solidFill>
              </a:rPr>
              <a:t>Video generation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1737360"/>
            <a:ext cx="2990088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Top commercial families to evaluate: Veo, Sora, Runway Gen-4, Kling, Luma Ray, Pika, and MiniMax video.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9BED6"/>
                </a:solidFill>
              </a:rPr>
              <a:t>Key criteria: motion coherence, character consistency, audio, editing controls, and rights.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8275320" y="1234440"/>
            <a:ext cx="2926080" cy="3291840"/>
          </a:xfrm>
          <a:prstGeom prst="roundRect">
            <a:avLst>
              <a:gd name="adj" fmla="val 2500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234440"/>
            <a:ext cx="54864" cy="329184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139903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Open/local generation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76488" y="1737360"/>
            <a:ext cx="2578608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FLUX / Stable Diffusion ecosystem for images; open video models are improving but still trail best closed systems for production polish.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102412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880" dirty="0">
                <a:solidFill>
                  <a:srgbClr val="F3F7FB"/>
                </a:solidFill>
              </a:rPr>
              <a:t>Production rule: pick by output acceptance rate, not leaderboard rank alone.</a:t>
            </a:r>
            <a:endParaRPr lang="en-US" sz="880" dirty="0"/>
          </a:p>
          <a:p>
            <a:r>
              <a:rPr lang="en-US" sz="880" dirty="0">
                <a:solidFill>
                  <a:srgbClr val="F3F7FB"/>
                </a:solidFill>
              </a:rPr>
              <a:t>Test with your real prompts: people, hands, text, product shots, diagrams, long camera moves, and brand constraints.</a:t>
            </a:r>
            <a:endParaRPr lang="en-US" sz="880" dirty="0"/>
          </a:p>
          <a:p>
            <a:r>
              <a:rPr lang="en-US" sz="880" dirty="0">
                <a:solidFill>
                  <a:srgbClr val="F3F7FB"/>
                </a:solidFill>
              </a:rPr>
              <a:t>Track rights/licensing: training data, likeness, music/audio, and commercial usage terms vary widely.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806440" y="647395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90" dirty="0">
                <a:solidFill>
                  <a:srgbClr val="6F87A6"/>
                </a:solidFill>
              </a:rPr>
              <a:t>Sources: Artificial Analysis Image/Video arenas, provider releases, public model cards</a:t>
            </a:r>
            <a:endParaRPr lang="en-US" sz="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Visual Understanding Models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ED6"/>
                </a:solidFill>
              </a:rPr>
              <a:t>Vision is now a core capability for documents, UI agents, video analysis, and multimodal RAG.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54864" cy="3337560"/>
          </a:xfrm>
          <a:prstGeom prst="rect">
            <a:avLst/>
          </a:prstGeom>
          <a:solidFill>
            <a:srgbClr val="43D6D6"/>
          </a:solidFill>
          <a:ln w="12700">
            <a:solidFill>
              <a:srgbClr val="43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4904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Best fine visual reasoning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1828800"/>
            <a:ext cx="221284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Claude Opus 4.7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Strong document, chart, OCR-like, and fine-grained image analysis signals; good for review-heavy workflows.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325880"/>
            <a:ext cx="54864" cy="333756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4904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Best broad multimodal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1828800"/>
            <a:ext cx="221284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Gemini 3.1 Pro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Strong image + audio + video input with large context; natural fit for long video/document analysis.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560320" cy="3337560"/>
          </a:xfrm>
          <a:prstGeom prst="roundRect">
            <a:avLst>
              <a:gd name="adj" fmla="val 2857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325880"/>
            <a:ext cx="54864" cy="3337560"/>
          </a:xfrm>
          <a:prstGeom prst="rect">
            <a:avLst/>
          </a:prstGeom>
          <a:solidFill>
            <a:srgbClr val="F6B44B"/>
          </a:solidFill>
          <a:ln w="12700">
            <a:solidFill>
              <a:srgbClr val="F6B4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4904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Best UI/computer use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81928" y="1828800"/>
            <a:ext cx="221284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GPT-5.5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Strong ecosystem for computer-use, screen analysis, and agentic workflows where API/tooling integration matters.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8823960" y="1325880"/>
            <a:ext cx="2514600" cy="3337560"/>
          </a:xfrm>
          <a:prstGeom prst="roundRect">
            <a:avLst>
              <a:gd name="adj" fmla="val 2909"/>
            </a:avLst>
          </a:prstGeom>
          <a:solidFill>
            <a:srgbClr val="102035"/>
          </a:solidFill>
          <a:ln w="10160">
            <a:solidFill>
              <a:srgbClr val="2C456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1325880"/>
            <a:ext cx="54864" cy="3337560"/>
          </a:xfrm>
          <a:prstGeom prst="rect">
            <a:avLst/>
          </a:prstGeom>
          <a:solidFill>
            <a:srgbClr val="7AA2FF"/>
          </a:solidFill>
          <a:ln w="12700">
            <a:solidFill>
              <a:srgbClr val="7AA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25128" y="1490472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7FB"/>
                </a:solidFill>
              </a:rPr>
              <a:t>Best open vision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25128" y="1828800"/>
            <a:ext cx="216712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Qwen 3.6-VL / Llama 4 vision-capable variants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A9BED6"/>
                </a:solidFill>
              </a:rPr>
              <a:t>Good self-host alternatives for OCR, VQA, screenshots, and private data.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777240" y="5349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3F7FB"/>
                </a:solidFill>
              </a:rPr>
              <a:t>Video understanding is a routing problem: combine keyframe extraction, transcript/audio, object/scene metadata, and a long-context multimodal model.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806440" y="647395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90" dirty="0">
                <a:solidFill>
                  <a:srgbClr val="6F87A6"/>
                </a:solidFill>
              </a:rPr>
              <a:t>Sources: o-mega May 2026, FutureAGI May 2026, provider model cards</a:t>
            </a:r>
            <a:endParaRPr lang="en-US" sz="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Model Routing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ED6"/>
                </a:solidFill>
              </a:rPr>
              <a:t>A practical “best models” answer is a portfolio, not a single model.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561320" cy="438912"/>
          </a:xfrm>
          <a:prstGeom prst="roundRect">
            <a:avLst>
              <a:gd name="adj" fmla="val 10417"/>
            </a:avLst>
          </a:prstGeom>
          <a:solidFill>
            <a:srgbClr val="132944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62456"/>
            <a:ext cx="2514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3F7FB"/>
                </a:solidFill>
              </a:rPr>
              <a:t>Hard coding + reviews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611880" y="1362456"/>
            <a:ext cx="7223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A9BED6"/>
                </a:solidFill>
              </a:rPr>
              <a:t>Claude Opus 4.7 / Mythos, with GPT-5.5 for terminal agents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77240" y="1892808"/>
            <a:ext cx="10561320" cy="438912"/>
          </a:xfrm>
          <a:prstGeom prst="roundRect">
            <a:avLst>
              <a:gd name="adj" fmla="val 10417"/>
            </a:avLst>
          </a:prstGeom>
          <a:solidFill>
            <a:srgbClr val="102035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20824"/>
            <a:ext cx="2514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3F7FB"/>
                </a:solidFill>
              </a:rPr>
              <a:t>Everyday assistant / agents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611880" y="2020824"/>
            <a:ext cx="7223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A9BED6"/>
                </a:solidFill>
              </a:rPr>
              <a:t>GPT-5.5 or Claude Sonnet/Opus depending on tool ecosystem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777240" y="2551176"/>
            <a:ext cx="10561320" cy="438912"/>
          </a:xfrm>
          <a:prstGeom prst="roundRect">
            <a:avLst>
              <a:gd name="adj" fmla="val 10417"/>
            </a:avLst>
          </a:prstGeom>
          <a:solidFill>
            <a:srgbClr val="132944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79192"/>
            <a:ext cx="2514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3F7FB"/>
                </a:solidFill>
              </a:rPr>
              <a:t>Research + multimodal docs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611880" y="2679192"/>
            <a:ext cx="7223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A9BED6"/>
                </a:solidFill>
              </a:rPr>
              <a:t>Gemini 3.1 Pro for long context and native audio/video/image input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77240" y="3209544"/>
            <a:ext cx="10561320" cy="438912"/>
          </a:xfrm>
          <a:prstGeom prst="roundRect">
            <a:avLst>
              <a:gd name="adj" fmla="val 10417"/>
            </a:avLst>
          </a:prstGeom>
          <a:solidFill>
            <a:srgbClr val="102035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37560"/>
            <a:ext cx="2514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3F7FB"/>
                </a:solidFill>
              </a:rPr>
              <a:t>Low-cost automation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611880" y="3337560"/>
            <a:ext cx="7223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A9BED6"/>
                </a:solidFill>
              </a:rPr>
              <a:t>DeepSeek V4 Flash / Pro, Kimi K2.6, Qwen family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77240" y="3867912"/>
            <a:ext cx="10561320" cy="438912"/>
          </a:xfrm>
          <a:prstGeom prst="roundRect">
            <a:avLst>
              <a:gd name="adj" fmla="val 10417"/>
            </a:avLst>
          </a:prstGeom>
          <a:solidFill>
            <a:srgbClr val="132944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995928"/>
            <a:ext cx="2514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3F7FB"/>
                </a:solidFill>
              </a:rPr>
              <a:t>Voice agents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611880" y="3995928"/>
            <a:ext cx="7223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A9BED6"/>
                </a:solidFill>
              </a:rPr>
              <a:t>Deepgram/Cartesia stack for latency; GPT-Realtime-2 when reasoning over speech matters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77240" y="4526280"/>
            <a:ext cx="10561320" cy="438912"/>
          </a:xfrm>
          <a:prstGeom prst="roundRect">
            <a:avLst>
              <a:gd name="adj" fmla="val 10417"/>
            </a:avLst>
          </a:prstGeom>
          <a:solidFill>
            <a:srgbClr val="102035"/>
          </a:solidFill>
          <a:ln w="12700">
            <a:solidFill>
              <a:srgbClr val="2C4565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654296"/>
            <a:ext cx="2514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3F7FB"/>
                </a:solidFill>
              </a:rPr>
              <a:t>Image/video production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611880" y="4654296"/>
            <a:ext cx="7223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A9BED6"/>
                </a:solidFill>
              </a:rPr>
              <a:t>Specialized media models; evaluate per brand style and usage rights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14400" y="5486400"/>
            <a:ext cx="10195560" cy="438912"/>
          </a:xfrm>
          <a:prstGeom prst="roundRect">
            <a:avLst>
              <a:gd name="adj" fmla="val 16667"/>
            </a:avLst>
          </a:prstGeom>
          <a:solidFill>
            <a:srgbClr val="7EE787">
              <a:alpha val="95000"/>
            </a:srgbClr>
          </a:solidFill>
          <a:ln w="12700">
            <a:solidFill>
              <a:srgbClr val="7EE78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614416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8111F"/>
                </a:solidFill>
              </a:rPr>
              <a:t>Bottom line: keep a benchmark-informed shortlist, then run your own evals with real prompts, codebases, audio, images, and video.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5806440" y="647395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90" dirty="0">
                <a:solidFill>
                  <a:srgbClr val="6F87A6"/>
                </a:solidFill>
              </a:rPr>
              <a:t>Sources: Cross-source synthesis</a:t>
            </a:r>
            <a:endParaRPr lang="en-US" sz="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321040" y="-914400"/>
            <a:ext cx="4572000" cy="4572000"/>
          </a:xfrm>
          <a:prstGeom prst="arc">
            <a:avLst/>
          </a:prstGeom>
          <a:solidFill>
            <a:srgbClr val="43D6D6">
              <a:alpha val="12000"/>
            </a:srgbClr>
          </a:solidFill>
          <a:ln w="12700">
            <a:solidFill>
              <a:srgbClr val="43D6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520000">
            <a:off x="-1005840" y="3566160"/>
            <a:ext cx="4023360" cy="4023360"/>
          </a:xfrm>
          <a:prstGeom prst="arc">
            <a:avLst/>
          </a:prstGeom>
          <a:solidFill>
            <a:srgbClr val="F6B44B">
              <a:alpha val="10000"/>
            </a:srgbClr>
          </a:solidFill>
          <a:ln w="12700">
            <a:solidFill>
              <a:srgbClr val="F6B44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Notes &amp; Caveats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ED6"/>
                </a:solidFill>
              </a:rPr>
              <a:t>Benchmarks move quickly; this deck is a dated market snapshot.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10515600" cy="3794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00" dirty="0">
                <a:solidFill>
                  <a:srgbClr val="F3F7FB"/>
                </a:solidFill>
              </a:rPr>
              <a:t>Primary benchmark references used: SWE-bench / BenchLM / LLM Stats for coding; Artificial Analysis and public arenas for model/media comparisons.</a:t>
            </a:r>
            <a:endParaRPr lang="en-US" sz="1100" dirty="0"/>
          </a:p>
          <a:p>
            <a:r>
              <a:rPr lang="en-US" sz="1100" dirty="0">
                <a:solidFill>
                  <a:srgbClr val="F3F7FB"/>
                </a:solidFill>
              </a:rPr>
              <a:t>News and synthesis references used: FutureAGI, BuildFastWithAI, o-mega, DeepLearning.AI, TTS Arena, and public GitHub/model-card pages.</a:t>
            </a:r>
            <a:endParaRPr lang="en-US" sz="1100" dirty="0"/>
          </a:p>
          <a:p>
            <a:r>
              <a:rPr lang="en-US" sz="1100" dirty="0">
                <a:solidFill>
                  <a:srgbClr val="F3F7FB"/>
                </a:solidFill>
              </a:rPr>
              <a:t>Some leading systems are proprietary, API-only, region-limited, waitlisted, or only available to selected partners.</a:t>
            </a:r>
            <a:endParaRPr lang="en-US" sz="1100" dirty="0"/>
          </a:p>
          <a:p>
            <a:r>
              <a:rPr lang="en-US" sz="1100" dirty="0">
                <a:solidFill>
                  <a:srgbClr val="F3F7FB"/>
                </a:solidFill>
              </a:rPr>
              <a:t>“Open source” is often actually “open weights”; verify license, commercial rights, acceptable-use policy, and deployment obligations.</a:t>
            </a:r>
            <a:endParaRPr lang="en-US" sz="1100" dirty="0"/>
          </a:p>
          <a:p>
            <a:r>
              <a:rPr lang="en-US" sz="1100" dirty="0">
                <a:solidFill>
                  <a:srgbClr val="F3F7FB"/>
                </a:solidFill>
              </a:rPr>
              <a:t>Best practice: build a small internal eval suite before procurement or model migration.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562356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D6D6"/>
                </a:solidFill>
              </a:rPr>
              <a:t>Prepared for Mariusz | 22 May 2026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8BA4C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AI Models: May 2026</dc:title>
  <dc:subject>Best AI models as of May 22, 2026</dc:subject>
  <dc:creator>OpenDora / Office Clip</dc:creator>
  <cp:lastModifiedBy>OpenDora / Office Clip</cp:lastModifiedBy>
  <cp:revision>1</cp:revision>
  <dcterms:created xsi:type="dcterms:W3CDTF">2026-05-22T15:18:47Z</dcterms:created>
  <dcterms:modified xsi:type="dcterms:W3CDTF">2026-05-22T15:18:47Z</dcterms:modified>
</cp:coreProperties>
</file>